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4EC7A-6B66-4F77-A13F-6B0AC538AB16}" type="datetimeFigureOut">
              <a:rPr lang="en-US" smtClean="0"/>
              <a:pPr/>
              <a:t>10/9/2026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A9B42-10BF-4DF6-84FB-250B8F664D7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PROBLEM </a:t>
            </a:r>
            <a:r>
              <a:t>FRAMING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33400"/>
            <a:ext cx="8298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Decision: pilot proactive diabetes care for high-utilization patients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98180" cy="1371600"/>
          </a:xfrm>
          <a:prstGeom prst="roundRect">
            <a:avLst/>
          </a:prstGeom>
          <a:solidFill>
            <a:srgbClr val="13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6646" y="1600200"/>
            <a:ext cx="79552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PROBLEM STATEMENT  •  A small number of patients repeatedly use acute hospital care, but the hospital lacks a validated way to identify preventable encounters, coordinate follow-up, and measure clinical and financial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770" y="2816352"/>
            <a:ext cx="2654046" cy="1627632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930" y="2953512"/>
            <a:ext cx="23797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7188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3337561"/>
            <a:ext cx="23797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A49"/>
                </a:solidFill>
                <a:latin typeface="Aptos"/>
              </a:defRPr>
            </a:pPr>
            <a:r>
              <a:t>101,766 encounter records; 71,518 unique patients; 16,773 patients have multiple encounters.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2816352"/>
            <a:ext cx="2654046" cy="1627632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2953512"/>
            <a:ext cx="23797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816C"/>
                </a:solidFill>
                <a:latin typeface="Aptos"/>
              </a:defRPr>
            </a:pPr>
            <a:r>
              <a:t>WHAT TO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3337561"/>
            <a:ext cx="23797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A49"/>
                </a:solidFill>
                <a:latin typeface="Aptos"/>
              </a:defRPr>
            </a:pPr>
            <a:r>
              <a:t>Launch a clinician-led 90-day pilot: identify repeated acute use, review causes, provide rapid diabetes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816352"/>
            <a:ext cx="2654046" cy="1627632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895600"/>
            <a:ext cx="23797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7188"/>
                </a:solidFill>
                <a:latin typeface="Aptos"/>
              </a:defRPr>
            </a:pPr>
            <a:r>
              <a:t>WHAT SUCCESS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37561"/>
            <a:ext cx="23797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C3A49"/>
                </a:solidFill>
                <a:latin typeface="Aptos"/>
              </a:defRPr>
            </a:pPr>
            <a:r>
              <a:t>Fewer avoidable acute visits, no safety deterioration, improved care access, and positive net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983480"/>
            <a:ext cx="809244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32842"/>
                </a:solidFill>
                <a:latin typeface="Aptos"/>
              </a:defRPr>
            </a:pPr>
            <a:r>
              <a:t>Recommendation: start with transparent utilization rules and care navigation. Add predictive AI only after clinical and financial validation.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FACTS </a:t>
            </a:r>
            <a:r>
              <a:t>AND DATA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98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Evidence: volumes are concentrated, but counts are not risk rates</a:t>
            </a:r>
          </a:p>
        </p:txBody>
      </p:sp>
      <p:pic>
        <p:nvPicPr>
          <p:cNvPr id="5" name="Picture 4" descr="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0"/>
            <a:ext cx="8311896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632704"/>
            <a:ext cx="8037576" cy="5852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6374" y="5751576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842"/>
                </a:solidFill>
                <a:latin typeface="Aptos"/>
              </a:defRPr>
            </a:pPr>
            <a:r>
              <a:t>FACT: 70–80 has the most encounters (26,068). Women 20–30: Caucasian 643 encounters / 406 patients; African American 376 / 252.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BUSINESS </a:t>
            </a:r>
            <a:r>
              <a:t>VALUE AND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33400"/>
            <a:ext cx="8298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Financial case: test contribution margin and show the break-even</a:t>
            </a:r>
          </a:p>
        </p:txBody>
      </p:sp>
      <p:pic>
        <p:nvPicPr>
          <p:cNvPr id="5" name="Picture 4" descr="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417320"/>
            <a:ext cx="8058150" cy="3535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0060" y="5010912"/>
            <a:ext cx="8202168" cy="1078992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078" y="5120640"/>
            <a:ext cx="7886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842"/>
                </a:solidFill>
                <a:latin typeface="Aptos"/>
              </a:defRPr>
            </a:pPr>
            <a:r>
              <a:t>ILLUSTRATIVE ASSUMPTIONS: 120 patients × 2 incremental outpatient visits × $80 contribution = $19,200; plus 12 avoided admissions × $250 net benefit = $3,000; minus $18,000 pilot cost.  Break-even = 188 incremental visits if admission benefit holds.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TOP </a:t>
            </a:r>
            <a:r>
              <a:t>PATIENTS AND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98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Target the highest users with tailored, clinician-led interventions</a:t>
            </a:r>
          </a:p>
        </p:txBody>
      </p:sp>
      <p:pic>
        <p:nvPicPr>
          <p:cNvPr id="5" name="Picture 4" descr="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44752"/>
            <a:ext cx="500634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490472"/>
            <a:ext cx="3154680" cy="1389888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23560" y="1627631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816C"/>
                </a:solidFill>
                <a:latin typeface="Aptos"/>
              </a:defRPr>
            </a:pPr>
            <a:r>
              <a:t>PATIENT 88785891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011679"/>
            <a:ext cx="2880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C3A49"/>
                </a:solidFill>
                <a:latin typeface="Aptos"/>
              </a:defRPr>
            </a:pPr>
            <a:r>
              <a:t>40 encounters • 23 records labeled &lt;30 days • 127 hospital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008376"/>
            <a:ext cx="3154680" cy="1389888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60" y="3145536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PATIENT 43140906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529584"/>
            <a:ext cx="2880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C3A49"/>
                </a:solidFill>
                <a:latin typeface="Aptos"/>
              </a:defRPr>
            </a:pPr>
            <a:r>
              <a:t>28 encounters • 22 records labeled &lt;30 days • 85 hospital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54" y="4736592"/>
            <a:ext cx="8229600" cy="1335024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4892040"/>
            <a:ext cx="79209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842"/>
                </a:solidFill>
                <a:latin typeface="Aptos"/>
              </a:defRPr>
            </a:pPr>
            <a:r>
              <a:t>Care pathway: identify repeated acute use → nurse + endocrinology chart review → assess DKA triggers, medication/insulin access and discharge barriers → arrange follow-up within 48–72 hours → monitor escalation and outcomes.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AI SOLUTION </a:t>
            </a:r>
            <a:r>
              <a:t>AND 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8298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Best-fit AI: a transparent care-management prioritization worklist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435608"/>
            <a:ext cx="8126730" cy="8138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085" y="1545336"/>
            <a:ext cx="1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2" y="1563624"/>
            <a:ext cx="6240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Encounter history, coded diagnoses, demographics, follow-up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372868"/>
            <a:ext cx="8126730" cy="8138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5" y="2482596"/>
            <a:ext cx="1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2. PRIORITIZE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2500884"/>
            <a:ext cx="6240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Rules first: recurrent unplanned acute use; test ML for incremental lift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" y="3310128"/>
            <a:ext cx="8126730" cy="8138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5" y="3419856"/>
            <a:ext cx="1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3.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3438144"/>
            <a:ext cx="6240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Clinician reviews acuity, context, barriers and suggested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" y="4247388"/>
            <a:ext cx="8126730" cy="8138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5" y="4357116"/>
            <a:ext cx="1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4. INTERVENE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4375403"/>
            <a:ext cx="6240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Care manager arranges clinic, educator, medication and social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" y="5184648"/>
            <a:ext cx="8126730" cy="813816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5" y="5294376"/>
            <a:ext cx="1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7188"/>
                </a:solidFill>
                <a:latin typeface="Aptos"/>
              </a:defRPr>
            </a:pPr>
            <a:r>
              <a:t>5.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5312664"/>
            <a:ext cx="6240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Track outcomes, equity, false alerts, workload and net contribution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1D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161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7188"/>
                </a:solidFill>
                <a:latin typeface="Aptos"/>
              </a:defRPr>
            </a:pPr>
            <a:r>
              <a:rPr smtClean="0"/>
              <a:t>EVIDENCE </a:t>
            </a:r>
            <a:r>
              <a:t>GAPS, EXPERIMENTS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981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32842"/>
                </a:solidFill>
                <a:latin typeface="Aptos"/>
              </a:defRPr>
            </a:pPr>
            <a:r>
              <a:t>Unknowns, validation plan and go/no-go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9486" y="1463040"/>
            <a:ext cx="4059936" cy="2395728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6646" y="1600200"/>
            <a:ext cx="37856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7188"/>
                </a:solidFill>
                <a:latin typeface="Aptos"/>
              </a:defRPr>
            </a:pPr>
            <a:r>
              <a:t>UNKNOWN / TEST BEFORE CLAIMING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57400"/>
            <a:ext cx="37856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• Which acute visits were preventable?</a:t>
            </a:r>
            <a:br/>
            <a:r>
              <a:t>• Are encounter dates and cross-provider histories complete?</a:t>
            </a:r>
            <a:br/>
            <a:r>
              <a:t>• What are actual payer mix, costs and service capacity?</a:t>
            </a:r>
            <a:br/>
            <a:r>
              <a:t>• Is young-female race concentration explained by cohort size or case mix?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2292" y="1463040"/>
            <a:ext cx="4059936" cy="2395728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9452" y="1600200"/>
            <a:ext cx="3785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816C"/>
                </a:solidFill>
                <a:latin typeface="Aptos"/>
              </a:defRPr>
            </a:pPr>
            <a:r>
              <a:t>90-DAY VALIDATION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57400"/>
            <a:ext cx="37856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C3A49"/>
                </a:solidFill>
                <a:latin typeface="Aptos"/>
              </a:defRPr>
            </a:pPr>
            <a:r>
              <a:t>Days 1–30: audit IDs, episodes, coding, timeline and hospital finance.</a:t>
            </a:r>
            <a:br/>
            <a:r>
              <a:t>Days 31–60: clinician-led outreach with comparison cohort.</a:t>
            </a:r>
            <a:br/>
            <a:r>
              <a:t>Days 61–90: review safety, utilization, access, and net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4133087"/>
            <a:ext cx="8181594" cy="1426464"/>
          </a:xfrm>
          <a:prstGeom prst="roundRect">
            <a:avLst/>
          </a:prstGeom>
          <a:solidFill>
            <a:srgbClr val="13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794" y="4315968"/>
            <a:ext cx="784555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GO / NO-GO: scale only if adjusted avoidable acute utilization falls, safety is not worse, subgroup performance is acceptable, patients receive timely follow-up, and verified net financial value is positive.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475</Words>
  <Application>Microsoft Office PowerPoint</Application>
  <PresentationFormat>On-screen Show (4:3)</PresentationFormat>
  <Paragraphs>42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8</cp:revision>
  <dcterms:created xsi:type="dcterms:W3CDTF">2006-08-16T00:00:00Z</dcterms:created>
  <dcterms:modified xsi:type="dcterms:W3CDTF">2026-10-09T10:06:28Z</dcterms:modified>
</cp:coreProperties>
</file>